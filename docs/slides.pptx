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Calibri"/>
              </a:rPr>
              <a:t>News Category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383280"/>
            <a:ext cx="9418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CADCFC"/>
                </a:solidFill>
                <a:latin typeface="Calibri Light"/>
              </a:rPr>
              <a:t>27-class classification with classical ML, fine-tuned RoBERTa, and LLM-generated explanations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41848" y="4937760"/>
            <a:ext cx="914400" cy="36576"/>
          </a:xfrm>
          <a:prstGeom prst="rect">
            <a:avLst/>
          </a:prstGeom>
          <a:solidFill>
            <a:srgbClr val="E6A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A8C1F5"/>
                </a:solidFill>
                <a:latin typeface="Calibri Light"/>
              </a:rPr>
              <a:t>Level 4 Data Science   •   7-person student team   • 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4008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1">
                <a:solidFill>
                  <a:srgbClr val="1A1A1A"/>
                </a:solidFill>
                <a:latin typeface="Calibri"/>
              </a:rPr>
              <a:t>What category does this news article belong to?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Multi-class text classification across 27 consolidated categories.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Inputs:   short headline   +   a paragraph-long description.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Output:   one category label, with a confidence score and a short human-readable rationale.</a:t>
            </a:r>
          </a:p>
          <a:p>
            <a:pPr algn="l"/>
            <a:r>
              <a:rPr sz="1600" b="0">
                <a:solidFill>
                  <a:srgbClr val="6B6B6B"/>
                </a:solidFill>
                <a:latin typeface="Calibri Light"/>
              </a:rPr>
              <a:t>Built as the deliverable for an academic Data Science course.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737360"/>
            <a:ext cx="3840480" cy="411480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2194560"/>
            <a:ext cx="3840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0" b="1">
                <a:solidFill>
                  <a:srgbClr val="1E2761"/>
                </a:solidFill>
                <a:latin typeface="Calibri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02336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1E2761"/>
                </a:solidFill>
                <a:latin typeface="Calibri Light"/>
              </a:rPr>
              <a:t>categories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5720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B6B6B"/>
                </a:solidFill>
                <a:latin typeface="Calibri Light"/>
              </a:rPr>
              <a:t>consolidated from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50292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6B6B"/>
                </a:solidFill>
                <a:latin typeface="Calibri Light"/>
              </a:rPr>
              <a:t>(see ADR-010)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The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News Category Dataset v3 on Kaggle (publicly licensed, English news, 2012-2022)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286000"/>
            <a:ext cx="2560320" cy="201168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2560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200" b="1">
                <a:solidFill>
                  <a:srgbClr val="1E2761"/>
                </a:solidFill>
                <a:latin typeface="Calibri"/>
              </a:rPr>
              <a:t>209,527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1E2761"/>
                </a:solidFill>
                <a:latin typeface="Calibri Light"/>
              </a:rPr>
              <a:t>articles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2286000"/>
            <a:ext cx="2560320" cy="201168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2651760"/>
            <a:ext cx="2560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200" b="1">
                <a:solidFill>
                  <a:srgbClr val="1E2761"/>
                </a:solidFill>
                <a:latin typeface="Calibri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8404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1E2761"/>
                </a:solidFill>
                <a:latin typeface="Calibri Light"/>
              </a:rPr>
              <a:t>categories (after merge)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286000"/>
            <a:ext cx="2560320" cy="201168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2651760"/>
            <a:ext cx="2560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200" b="1">
                <a:solidFill>
                  <a:srgbClr val="1E2761"/>
                </a:solidFill>
                <a:latin typeface="Calibri"/>
              </a:rPr>
              <a:t>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38404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1E2761"/>
                </a:solidFill>
                <a:latin typeface="Calibri Light"/>
              </a:rPr>
              <a:t>avg words / article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2286000"/>
            <a:ext cx="2834640" cy="201168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2651760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200" b="1">
                <a:solidFill>
                  <a:srgbClr val="1E2761"/>
                </a:solidFill>
                <a:latin typeface="Calibri"/>
              </a:rPr>
              <a:t>35x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8404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1E2761"/>
                </a:solidFill>
                <a:latin typeface="Calibri Light"/>
              </a:rPr>
              <a:t>imbalance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54880"/>
            <a:ext cx="11064240" cy="1463040"/>
          </a:xfrm>
          <a:prstGeom prst="round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846320"/>
            <a:ext cx="10607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Largest classes:   POLITICS_WORLD (41,421)   •   ENTERTAINMENT (24,841)   •   HEALTH (13,762)   •   FAMILY (10,775)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Smallest classes:   LATINO VOICES (1,127)   •   FIFTY (1,401)   •   GOOD NEWS (1,398)</a:t>
            </a:r>
          </a:p>
          <a:p>
            <a:pPr algn="l"/>
            <a:r>
              <a:rPr sz="1300" b="0">
                <a:solidFill>
                  <a:srgbClr val="6B6B6B"/>
                </a:solidFill>
                <a:latin typeface="Calibri Light"/>
              </a:rPr>
              <a:t>Mitigation:   class_weight='balanced' on every classifier that supports it (ADR-002).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Methodology — End-to-End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Calibri Light"/>
              </a:rPr>
              <a:t>Six pipeline stages, all reproducible from a single Colab notebook.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94560"/>
            <a:ext cx="1729740" cy="384048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7750" y="2468879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7297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1E2761"/>
                </a:solidFill>
                <a:latin typeface="Calibri"/>
              </a:rPr>
              <a:t>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23360"/>
            <a:ext cx="15468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>
                <a:solidFill>
                  <a:srgbClr val="1A1A1A"/>
                </a:solidFill>
                <a:latin typeface="Calibri"/>
              </a:rPr>
              <a:t>Kaggle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Calibri"/>
              </a:rPr>
              <a:t>209K rows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15540" y="2194560"/>
            <a:ext cx="1729740" cy="384048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914650" y="2468879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15540" y="3383280"/>
            <a:ext cx="17297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1E2761"/>
                </a:solidFill>
                <a:latin typeface="Calibri"/>
              </a:rPr>
              <a:t>Clean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6980" y="4023360"/>
            <a:ext cx="15468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>
                <a:solidFill>
                  <a:srgbClr val="1A1A1A"/>
                </a:solidFill>
                <a:latin typeface="Calibri"/>
              </a:rPr>
              <a:t>lowercase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Calibri"/>
              </a:rPr>
              <a:t>tokenise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Calibri"/>
              </a:rPr>
              <a:t>lemmatise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2439" y="2194560"/>
            <a:ext cx="1729740" cy="384048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81549" y="2468879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2439" y="3383280"/>
            <a:ext cx="17297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1E2761"/>
                </a:solidFill>
                <a:latin typeface="Calibri"/>
              </a:rPr>
              <a:t>Consolidate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3879" y="4023360"/>
            <a:ext cx="15468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>
                <a:solidFill>
                  <a:srgbClr val="1A1A1A"/>
                </a:solidFill>
                <a:latin typeface="Calibri"/>
              </a:rPr>
              <a:t>42 to 27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Calibri"/>
              </a:rPr>
              <a:t>classes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9340" y="2194560"/>
            <a:ext cx="1729740" cy="384048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48449" y="2468879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9340" y="3383280"/>
            <a:ext cx="17297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1E2761"/>
                </a:solidFill>
                <a:latin typeface="Calibri"/>
              </a:rPr>
              <a:t>Featurise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0779" y="4023360"/>
            <a:ext cx="15468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>
                <a:solidFill>
                  <a:srgbClr val="1A1A1A"/>
                </a:solidFill>
                <a:latin typeface="Calibri"/>
              </a:rPr>
              <a:t>TF-IDF +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Calibri"/>
              </a:rPr>
              <a:t>RoBERTa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Calibri"/>
              </a:rPr>
              <a:t>embeddings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6239" y="2194560"/>
            <a:ext cx="1729740" cy="384048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15349" y="2468879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6239" y="3383280"/>
            <a:ext cx="17297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1E2761"/>
                </a:solidFill>
                <a:latin typeface="Calibri"/>
              </a:rPr>
              <a:t>Train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7679" y="4023360"/>
            <a:ext cx="15468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>
                <a:solidFill>
                  <a:srgbClr val="1A1A1A"/>
                </a:solidFill>
                <a:latin typeface="Calibri"/>
              </a:rPr>
              <a:t>6 classical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Calibri"/>
              </a:rPr>
              <a:t>+ RoBERTa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Calibri"/>
              </a:rPr>
              <a:t>(fine-tuned)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83139" y="2194560"/>
            <a:ext cx="1729740" cy="384048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382249" y="2468879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83139" y="3383280"/>
            <a:ext cx="17297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1E2761"/>
                </a:solidFill>
                <a:latin typeface="Calibri"/>
              </a:rPr>
              <a:t>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74579" y="4023360"/>
            <a:ext cx="15468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>
                <a:solidFill>
                  <a:srgbClr val="1A1A1A"/>
                </a:solidFill>
                <a:latin typeface="Calibri"/>
              </a:rPr>
              <a:t>Gradio +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Calibri"/>
              </a:rPr>
              <a:t>LLM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Calibri"/>
              </a:rPr>
              <a:t>explanations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Preprocessing — Five Cleaning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Calibri Light"/>
              </a:rPr>
              <a:t>Single source of truth: src/preprocessing.py — same function used at training and inference.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96596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0116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Lowercase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011680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 Light"/>
              </a:rPr>
              <a:t>All text uniformly cased so TF-IDF treats 'Apple' = 'apple'.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4320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7889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Remove noise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788920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 Light"/>
              </a:rPr>
              <a:t>Strip URLs, HTML tags, punctuation, digits.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2044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5661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Tokenise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566160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 Light"/>
              </a:rPr>
              <a:t>NLTK word tokeniser splits text into words.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297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3434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Drop stopwords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343400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 Light"/>
              </a:rPr>
              <a:t>NLTK English stopword list removed.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07492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1206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Lemmatise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120640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 Light"/>
              </a:rPr>
              <a:t>WordNet lemmatiser: noun-form first, then verb-form.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943600"/>
            <a:ext cx="11064240" cy="54864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2761"/>
                </a:solidFill>
                <a:latin typeface="Calibri"/>
              </a:rPr>
              <a:t>Plus three numeric features per article:   word count   •   character count   •   punctuation count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Category Consolidation:  42 →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Calibri Light"/>
              </a:rPr>
              <a:t>Several raw labels are near-duplicates that confuse every classifier.   Merging them lifts accuracy by ~10 points.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5394960" cy="4389120"/>
          </a:xfrm>
          <a:prstGeom prst="round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1A1A1A"/>
                </a:solidFill>
                <a:latin typeface="Calibri"/>
              </a:rPr>
              <a:t>Before — 42 classes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466344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STYLE   •   STYLE &amp; BEAUTY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ARTS   •   ARTS &amp; CULTURE   •   CULTURE &amp; ARTS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WORLDPOST   •   THE WORLDPOST   •   POLITICS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WELLNESS   •   HEALTHY LIVING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TECH   •   SCIENCE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PARENTS   •   PARENTING   •   WOMEN</a:t>
            </a:r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MONEY   •  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394960" cy="438912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219456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1E2761"/>
                </a:solidFill>
                <a:latin typeface="Calibri"/>
              </a:rPr>
              <a:t>After — 27 classes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834640"/>
            <a:ext cx="466344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STYLE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ARTS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POLITICS_WORLD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HEALTH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SCI_TECH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FAMILY</a:t>
            </a:r>
          </a:p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E6A51B"/>
                </a:solidFill>
                <a:latin typeface="Calibri"/>
              </a:rPr>
              <a:t>Result on classical models:  accuracy 0.55 → 0.69     |     RoBERTa: 0.65 → 0.75     (ADR-010)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Six Classical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Calibri Light"/>
              </a:rPr>
              <a:t>Each trained with hyper-parameter tuning on the 27-class data.   Class weights = 'balanced' where supported.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3657600" cy="219456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E2761"/>
                </a:solidFill>
                <a:latin typeface="Calibri"/>
              </a:rPr>
              <a:t>Logistic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 Light"/>
              </a:rPr>
              <a:t>GridSearchCV over C ∈ {0.1, 1, 10}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 Light"/>
              </a:rPr>
              <a:t>saga solver, max_iter=300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3657600" cy="219456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24028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E2761"/>
                </a:solidFill>
                <a:latin typeface="Calibri"/>
              </a:rPr>
              <a:t>Linear SVM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92608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 Light"/>
              </a:rPr>
              <a:t>GridSearchCV over C, calibrated probabilities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47472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 Light"/>
              </a:rPr>
              <a:t>CalibratedClassifierCV(cv=3)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011680"/>
            <a:ext cx="3657600" cy="219456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24028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E2761"/>
                </a:solidFill>
                <a:latin typeface="Calibri"/>
              </a:rPr>
              <a:t>KNN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92608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 Light"/>
              </a:rPr>
              <a:t>RandomizedSearchCV over n_neighbors, weights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47472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 Light"/>
              </a:rPr>
              <a:t>cosine metric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43400"/>
            <a:ext cx="3657600" cy="219456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7200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E2761"/>
                </a:solidFill>
                <a:latin typeface="Calibri"/>
              </a:rPr>
              <a:t>Decision Tree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5780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 Light"/>
              </a:rPr>
              <a:t>GridSearchCV over max_depth, min_samples_leaf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0644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 Light"/>
              </a:rPr>
              <a:t>single estimator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4343400"/>
            <a:ext cx="3657600" cy="219456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457200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E2761"/>
                </a:solidFill>
                <a:latin typeface="Calibri"/>
              </a:rPr>
              <a:t>Random Forest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525780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 Light"/>
              </a:rPr>
              <a:t>Tuned on 30K subsample, refit best on full train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580644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 Light"/>
              </a:rPr>
              <a:t>balanced class weights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4343400"/>
            <a:ext cx="3657600" cy="219456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457200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E2761"/>
                </a:solidFill>
                <a:latin typeface="Calibri"/>
              </a:rPr>
              <a:t>AdaBoost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525780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 Light"/>
              </a:rPr>
              <a:t>GridSearchCV over n_estimators, learning_rate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80644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 Light"/>
              </a:rPr>
              <a:t>SAMME algorithm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E2761"/>
                </a:solidFill>
                <a:latin typeface="Calibri"/>
              </a:rPr>
              <a:t>Fine-tuned RoBERTa  —  Confusion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4937760" cy="521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RobertaForSequenceClassification, 27-way head, fine-tuned on the consolidated dataset.   Hosted on Google Drive (470 MB), downloaded once via gdown, cached locally.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Headline numbers — held-out test set: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accuracy   0.7477       macro-F1   0.7102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weighted-F1   0.7562       ROC-AUC   0.9854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Most-confused class pairs (visible on the matrix):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  POLITICS_WORLD ↔ U.S. NEWS    —   both label US political news; the original tagging is inconsistent.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  ENTERTAINMENT ↔ COMEDY    —   celebrity-comedy and late-night content straddle the boundary.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•   HEALTH ↔ FAMILY    —   wellness and parenting overlap on child-health pieces.</a:t>
            </a:r>
          </a:p>
          <a:p>
            <a:pPr algn="l"/>
            <a:r>
              <a:rPr sz="1100" b="0">
                <a:solidFill>
                  <a:srgbClr val="6B6B6B"/>
                </a:solidFill>
                <a:latin typeface="Calibri Light"/>
              </a:rPr>
              <a:t>Attribution:  weights from the team coordinator's prior individual work on the same dataset (ADR-011).</a:t>
            </a:r>
          </a:p>
        </p:txBody>
      </p:sp>
      <p:pic>
        <p:nvPicPr>
          <p:cNvPr id="4" name="Picture 3" descr="roberta_finetuned_hi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80160"/>
            <a:ext cx="594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720" y="64465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Calibri Light"/>
              </a:rPr>
              <a:t>Row-normalised confusion matrix — fine-tuned RoBERTa on 27-class held-out test set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Model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Calibri Light"/>
              </a:rPr>
              <a:t>All seven models on the same 80/20 stratified test split (random_state = 42).   Sorted by macro-F1.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54864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011680"/>
            <a:ext cx="411480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80" y="2011680"/>
            <a:ext cx="164592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20116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2011680"/>
            <a:ext cx="164592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0116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Macro-F1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2011680"/>
            <a:ext cx="164592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0116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Weighted-F1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49840" y="2011680"/>
            <a:ext cx="146304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0" y="20116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ROC-AUC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468880"/>
            <a:ext cx="548640" cy="4572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4688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2468880"/>
            <a:ext cx="4114800" cy="4572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24688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RoBERTa (fine-tuned)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2468880"/>
            <a:ext cx="1645920" cy="4572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24688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</a:rPr>
              <a:t>0.7477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2468880"/>
            <a:ext cx="1645920" cy="4572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24688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</a:rPr>
              <a:t>0.7102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0" y="2468880"/>
            <a:ext cx="1645920" cy="4572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24688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</a:rPr>
              <a:t>0.7562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49840" y="2468880"/>
            <a:ext cx="1463040" cy="4572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0" y="24688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</a:rPr>
              <a:t>0.9854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926080"/>
            <a:ext cx="548640" cy="4572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29260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7280" y="2926080"/>
            <a:ext cx="4114800" cy="4572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29260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Linear SVM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0" y="2926080"/>
            <a:ext cx="1645920" cy="4572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0" y="29260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0.6865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2926080"/>
            <a:ext cx="1645920" cy="4572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29260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0.5704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03920" y="2926080"/>
            <a:ext cx="1645920" cy="4572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0" y="29260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0.6755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49840" y="2926080"/>
            <a:ext cx="1463040" cy="4572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49840" y="29260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0.9561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383280"/>
            <a:ext cx="548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33832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97280" y="3383280"/>
            <a:ext cx="4114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0" y="33832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Logistic Regression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12080" y="3383280"/>
            <a:ext cx="16459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12080" y="33832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0.6279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0" y="3383280"/>
            <a:ext cx="16459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0" y="33832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0.5582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03920" y="3383280"/>
            <a:ext cx="16459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03920" y="33832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0.6432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149840" y="3383280"/>
            <a:ext cx="14630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49840" y="33832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0.9500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3840480"/>
            <a:ext cx="548640" cy="4572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38404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97280" y="3840480"/>
            <a:ext cx="4114800" cy="4572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97280" y="38404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Random Forest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12080" y="3840480"/>
            <a:ext cx="1645920" cy="4572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12080" y="38404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0.4413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58000" y="3840480"/>
            <a:ext cx="1645920" cy="4572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0" y="38404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0.4055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03920" y="3840480"/>
            <a:ext cx="1645920" cy="4572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03920" y="38404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0.4702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149840" y="3840480"/>
            <a:ext cx="1463040" cy="4572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149840" y="38404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0.8848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4297680"/>
            <a:ext cx="548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42976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97280" y="4297680"/>
            <a:ext cx="4114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97280" y="42976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Decision Tree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212080" y="4297680"/>
            <a:ext cx="16459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212080" y="42976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0.4252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858000" y="4297680"/>
            <a:ext cx="16459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58000" y="42976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0.3593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03920" y="4297680"/>
            <a:ext cx="16459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503920" y="42976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0.4271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149840" y="4297680"/>
            <a:ext cx="14630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149840" y="42976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0.6701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8640" y="4754880"/>
            <a:ext cx="548640" cy="4572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8640" y="47548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97280" y="4754880"/>
            <a:ext cx="4114800" cy="4572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97280" y="47548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KNN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212080" y="4754880"/>
            <a:ext cx="1645920" cy="4572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212080" y="47548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0.3991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858000" y="4754880"/>
            <a:ext cx="1645920" cy="4572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858000" y="47548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0.2904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503920" y="4754880"/>
            <a:ext cx="1645920" cy="4572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503920" y="47548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0.3825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149840" y="4754880"/>
            <a:ext cx="1463040" cy="4572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149840" y="47548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0.7078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48640" y="5212080"/>
            <a:ext cx="548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48640" y="52120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7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97280" y="5212080"/>
            <a:ext cx="4114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97280" y="52120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AdaBoost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212080" y="5212080"/>
            <a:ext cx="16459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212080" y="52120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0.2266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858000" y="5212080"/>
            <a:ext cx="16459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858000" y="52120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0.0446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03920" y="5212080"/>
            <a:ext cx="16459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503920" y="52120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0.1043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49840" y="5212080"/>
            <a:ext cx="14630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149840" y="52120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0.7105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6B6B"/>
                </a:solidFill>
                <a:latin typeface="Calibri Light"/>
              </a:rPr>
              <a:t>AdaBoost collapsed to predicting only the majority class on the 27-class problem (macro-F1 = 0.045).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E6A51B"/>
                </a:solidFill>
                <a:latin typeface="Calibri"/>
              </a:rPr>
              <a:t>PRD §2 acceptance bars:  classical accuracy ≥ 0.65 ✓     macro-F1 ≥ 0.55 ✓     RoBERTa accuracy ≥ 0.70 ✓     macro-F1 ≥ 0.65 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EDA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Calibri Light"/>
              </a:rPr>
              <a:t>From notebooks/01_eda.ipynb (Parts 1 + 2).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3657600" cy="182880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Severe imbalance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35×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 Light"/>
              </a:rPr>
              <a:t>max-to-min class ratio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3657600" cy="182880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1945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Token length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6974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3832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 Light"/>
              </a:rPr>
              <a:t>average words per article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011680"/>
            <a:ext cx="3657600" cy="182880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1945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Vocabulary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6974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50K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3832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 Light"/>
              </a:rPr>
              <a:t>unique TF-IDF tokens (cap)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77639"/>
            <a:ext cx="3657600" cy="182880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062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Top words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54879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 Light"/>
              </a:rPr>
              <a:t>covid · trump · american · woman · gop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977639"/>
            <a:ext cx="3657600" cy="182880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42062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Top bigrams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754879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 Light"/>
              </a:rPr>
              <a:t>donald trump · prime minister · white house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977639"/>
            <a:ext cx="3657600" cy="182880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2062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Top trigrams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754879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 Light"/>
              </a:rPr>
              <a:t>new york city · per cent of · centers for disease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Demo — The Gradio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Calibri Light"/>
              </a:rPr>
              <a:t>Public share link from Colab.   Two text inputs, four outputs, end-to-end inference under 5 s on a warm GPU.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4937760" cy="4297680"/>
          </a:xfrm>
          <a:prstGeom prst="round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E2761"/>
                </a:solidFill>
                <a:latin typeface="Calibri"/>
              </a:rPr>
              <a:t>Inputs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06040"/>
            <a:ext cx="44805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 Light"/>
              </a:rPr>
              <a:t>Headline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383280"/>
            <a:ext cx="448056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429768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 Light"/>
              </a:rPr>
              <a:t>Short description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212080"/>
            <a:ext cx="4480560" cy="7315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1208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Predict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920240"/>
            <a:ext cx="5760720" cy="429768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210312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E2761"/>
                </a:solidFill>
                <a:latin typeface="Calibri"/>
              </a:rPr>
              <a:t>Outputs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2606040"/>
            <a:ext cx="53949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651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Calibri"/>
              </a:rPr>
              <a:t>Predicted category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99923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 Light"/>
              </a:rPr>
              <a:t>SCI_TECH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3474720"/>
            <a:ext cx="53949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52043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Calibri"/>
              </a:rPr>
              <a:t>Confidence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867911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 Light"/>
              </a:rPr>
              <a:t>98%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4343400"/>
            <a:ext cx="53949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4389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Calibri"/>
              </a:rPr>
              <a:t>LLM explanation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73659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 Light"/>
              </a:rPr>
              <a:t>Two-to-three-sentence rationale generated by Groq Llama-3.3-70B.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5212080"/>
            <a:ext cx="53949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5257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Calibri"/>
              </a:rPr>
              <a:t>Top-3 similar articles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60527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 Light"/>
              </a:rPr>
              <a:t>Cosine over fine-tuned RoBERTa embeddings.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LLM Explanation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6400800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Why an LLM here?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The classifier emits a label and a probability.   Neither is a justification.   The LLM turns 'SCI_TECH, 98%' into a short paragraph the demo audience can sanity-check.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Provider:    Groq Cloud   /   llama-3.3-70b-versatile   (free tier, ADR-001)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Prompt:    fixed template — Article + Category + Confidence → 2-3 sentence rationale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Cache:    lru_cache(1024) keyed on (sha1(text)[:16], label) — repeated demo queries hit cache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Failure:    rate-limit / network errors return a polite placeholder — UI never crashes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80960" y="1828800"/>
            <a:ext cx="3931920" cy="128016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0" y="192024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B6B6B"/>
                </a:solidFill>
                <a:latin typeface="Calibri Light"/>
              </a:rPr>
              <a:t>model 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233172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1E2761"/>
                </a:solidFill>
                <a:latin typeface="Calibri"/>
              </a:rPr>
              <a:t>70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3291840"/>
            <a:ext cx="3931920" cy="128016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33832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B6B6B"/>
                </a:solidFill>
                <a:latin typeface="Calibri Light"/>
              </a:rPr>
              <a:t>warm latency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379476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1E2761"/>
                </a:solidFill>
                <a:latin typeface="Calibri"/>
              </a:rPr>
              <a:t>&lt;1 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4754880"/>
            <a:ext cx="3931920" cy="128016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484632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B6B6B"/>
                </a:solidFill>
                <a:latin typeface="Calibri Light"/>
              </a:rPr>
              <a:t>cache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525780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1E2761"/>
                </a:solidFill>
                <a:latin typeface="Calibri"/>
              </a:rPr>
              <a:t>1024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Lessons Learned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064240" cy="169164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1874520"/>
            <a:ext cx="868680" cy="8686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691640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E2761"/>
                </a:solidFill>
                <a:latin typeface="Calibri"/>
              </a:rPr>
              <a:t>Cleaning is model-specific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240280"/>
            <a:ext cx="95097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 Light"/>
              </a:rPr>
              <a:t>TF-IDF wants stems and lowercase.   The fine-tuned RoBERTa wants near-original text.   Feeding it the wrong column dropped accuracy from 0.75 to 0.58 — caught only by reading the prior project's inference code.   Now stored as two columns: text (heavy) and raw_text (light).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91840"/>
            <a:ext cx="11064240" cy="169164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3703320"/>
            <a:ext cx="868680" cy="8686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520440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E2761"/>
                </a:solidFill>
                <a:latin typeface="Calibri"/>
              </a:rPr>
              <a:t>Free-tier infrastructure has soft limits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4069080"/>
            <a:ext cx="95097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 Light"/>
              </a:rPr>
              <a:t>Colab free-tier disconnected on 3-hour streaks during integration testing.   Unblocked by switching accounts via Incognito and shorter session-per-run discipline.   Time budgeted explicitly for this in sprint 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120640"/>
            <a:ext cx="11064240" cy="169164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5532120"/>
            <a:ext cx="868680" cy="8686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5349240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E2761"/>
                </a:solidFill>
                <a:latin typeface="Calibri"/>
              </a:rPr>
              <a:t>Notebook-first, with a sliver of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5897879"/>
            <a:ext cx="95097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 Light"/>
              </a:rPr>
              <a:t>Seven contributors editing one notebook works when section ownership is clear and 'Restart &amp; Clear All Outputs' is a pre-merge rule.   Only the unit-tested clean_text() lives outside the notebook (ADR-009).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Calibri Light"/>
              </a:rPr>
              <a:t>Out of scope for the M2 deliverable, but cleanly extensible from the current pipeline.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2103120" cy="5029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201168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Top-3 prediction display in Gradio (PRD F13)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2103120" cy="5029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Calibration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65176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Calibrate every probabilistic model — confidence histograms (PRD F12)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91840"/>
            <a:ext cx="2103120" cy="5029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Modelling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29184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Fine-tune RoBERTa from scratch and compare against the reused weights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2103120" cy="5029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93192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Modelling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93192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Compare prompt-only LLM classification vs the trained classifier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72000"/>
            <a:ext cx="2103120" cy="5029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57200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57200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Permanent hosting on Hugging Face Spaces (replace ephemeral Colab share link)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212080"/>
            <a:ext cx="2103120" cy="5029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21208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521208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Multilingual support — current pipeline is English-only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CADCFC"/>
                </a:solidFill>
                <a:latin typeface="Calibri Light"/>
              </a:rPr>
              <a:t>Questions are welcome.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41848" y="4572000"/>
            <a:ext cx="914400" cy="36576"/>
          </a:xfrm>
          <a:prstGeom prst="rect">
            <a:avLst/>
          </a:prstGeom>
          <a:solidFill>
            <a:srgbClr val="E6A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A8C1F5"/>
                </a:solidFill>
                <a:latin typeface="Calibri"/>
              </a:rPr>
              <a:t>github.com/Omar-Anwar-Dev/news-category-classification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A8C1F5"/>
                </a:solidFill>
                <a:latin typeface="Calibri Light"/>
              </a:rPr>
              <a:t>Level 4 Data Science   •   7-person student team   •  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